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ileron Bold" charset="1" panose="00000800000000000000"/>
      <p:regular r:id="rId12"/>
    </p:embeddedFont>
    <p:embeddedFont>
      <p:font typeface="Aileron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14860"/>
            <a:ext cx="13303790" cy="27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b="true" sz="20266" spc="-74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APPIC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127" y="4617204"/>
            <a:ext cx="7740829" cy="41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0"/>
              </a:lnSpc>
              <a:spcBef>
                <a:spcPct val="0"/>
              </a:spcBef>
            </a:pPr>
            <a:r>
              <a:rPr lang="en-US" b="true" sz="3100" spc="-114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Mobil Uygulama Otomasyonu Platformu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645042"/>
            <a:ext cx="34900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Sunan ve Hazırlayan: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41546"/>
            <a:ext cx="34900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Mahmut Burak Ceylan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26542" y="8645042"/>
            <a:ext cx="239865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E-mail Adresi: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26542" y="9041546"/>
            <a:ext cx="378271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burak.ceylan@tokeninc.com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94511" y="1691148"/>
            <a:ext cx="11298977" cy="80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b="true" sz="3100" spc="-11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Üçüncü parti uygulamaları ortadan kaldırarak, herkesi birer otomasyon mühendisine dönüştürüyoruz.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6237" y="1838497"/>
            <a:ext cx="10231053" cy="7185801"/>
          </a:xfrm>
          <a:custGeom>
            <a:avLst/>
            <a:gdLst/>
            <a:ahLst/>
            <a:cxnLst/>
            <a:rect r="r" b="b" t="t" l="l"/>
            <a:pathLst>
              <a:path h="7185801" w="10231053">
                <a:moveTo>
                  <a:pt x="0" y="0"/>
                </a:moveTo>
                <a:lnTo>
                  <a:pt x="10231053" y="0"/>
                </a:lnTo>
                <a:lnTo>
                  <a:pt x="10231053" y="7185800"/>
                </a:lnTo>
                <a:lnTo>
                  <a:pt x="0" y="71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42875" cap="rnd">
            <a:solidFill>
              <a:srgbClr val="FFFFFF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53933"/>
            <a:ext cx="9557355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Appic Nedir?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4625"/>
            <a:ext cx="5789690" cy="42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Bağımsızlık / Veri Güvenliği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2796"/>
            <a:ext cx="57896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Appium gibi üçüncü parti uygulamalara bağlı kalmadan doğrudan cihaz ile iletişim kurar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03613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Appic; Mobil test süreçlerini demokratikleştirmek, hızlandırmak ve standartize etmek için tasarladığımız uçtan uca bir platformudur.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00696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Kodsuz Üretim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988868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Testi yapan kişi kendi süreçlerine devam ederken doğal hareketlerini yakalayarak, yapay zeka desteği ile test otomasyonuna çevirir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319192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Herkes İçin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07364"/>
            <a:ext cx="57896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Kodlama bilmeyen test uzmanları saniyeler içerisinde birer otomasyon mühendisine dönüşür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85263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Sürdürülebilirlik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473435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T-ex platformunun sürdürülebilirliğini sağlayarak herkesin platformda kendi testlerini yaratabilmesini sağlar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1121650" y="4800718"/>
            <a:ext cx="6703641" cy="3653484"/>
          </a:xfrm>
          <a:custGeom>
            <a:avLst/>
            <a:gdLst/>
            <a:ahLst/>
            <a:cxnLst/>
            <a:rect r="r" b="b" t="t" l="l"/>
            <a:pathLst>
              <a:path h="3653484" w="6703641">
                <a:moveTo>
                  <a:pt x="0" y="0"/>
                </a:moveTo>
                <a:lnTo>
                  <a:pt x="6703641" y="0"/>
                </a:lnTo>
                <a:lnTo>
                  <a:pt x="6703641" y="3653484"/>
                </a:lnTo>
                <a:lnTo>
                  <a:pt x="0" y="365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492992" y="4800718"/>
            <a:ext cx="6703641" cy="3653484"/>
          </a:xfrm>
          <a:custGeom>
            <a:avLst/>
            <a:gdLst/>
            <a:ahLst/>
            <a:cxnLst/>
            <a:rect r="r" b="b" t="t" l="l"/>
            <a:pathLst>
              <a:path h="3653484" w="6703641">
                <a:moveTo>
                  <a:pt x="0" y="0"/>
                </a:moveTo>
                <a:lnTo>
                  <a:pt x="6703641" y="0"/>
                </a:lnTo>
                <a:lnTo>
                  <a:pt x="6703641" y="3653484"/>
                </a:lnTo>
                <a:lnTo>
                  <a:pt x="0" y="365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8073114" y="4800718"/>
            <a:ext cx="6703641" cy="3653484"/>
          </a:xfrm>
          <a:custGeom>
            <a:avLst/>
            <a:gdLst/>
            <a:ahLst/>
            <a:cxnLst/>
            <a:rect r="r" b="b" t="t" l="l"/>
            <a:pathLst>
              <a:path h="3653484" w="6703641">
                <a:moveTo>
                  <a:pt x="0" y="0"/>
                </a:moveTo>
                <a:lnTo>
                  <a:pt x="6703640" y="0"/>
                </a:lnTo>
                <a:lnTo>
                  <a:pt x="6703640" y="3653484"/>
                </a:lnTo>
                <a:lnTo>
                  <a:pt x="0" y="365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2653235" y="4800718"/>
            <a:ext cx="6703641" cy="3653484"/>
          </a:xfrm>
          <a:custGeom>
            <a:avLst/>
            <a:gdLst/>
            <a:ahLst/>
            <a:cxnLst/>
            <a:rect r="r" b="b" t="t" l="l"/>
            <a:pathLst>
              <a:path h="3653484" w="6703641">
                <a:moveTo>
                  <a:pt x="0" y="0"/>
                </a:moveTo>
                <a:lnTo>
                  <a:pt x="6703641" y="0"/>
                </a:lnTo>
                <a:lnTo>
                  <a:pt x="6703641" y="3653484"/>
                </a:lnTo>
                <a:lnTo>
                  <a:pt x="0" y="365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4498" y="4458092"/>
            <a:ext cx="1011346" cy="1081653"/>
          </a:xfrm>
          <a:custGeom>
            <a:avLst/>
            <a:gdLst/>
            <a:ahLst/>
            <a:cxnLst/>
            <a:rect r="r" b="b" t="t" l="l"/>
            <a:pathLst>
              <a:path h="1081653" w="1011346">
                <a:moveTo>
                  <a:pt x="0" y="0"/>
                </a:moveTo>
                <a:lnTo>
                  <a:pt x="1011346" y="0"/>
                </a:lnTo>
                <a:lnTo>
                  <a:pt x="1011346" y="1081654"/>
                </a:lnTo>
                <a:lnTo>
                  <a:pt x="0" y="1081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3496" y="4508992"/>
            <a:ext cx="1062633" cy="1030754"/>
          </a:xfrm>
          <a:custGeom>
            <a:avLst/>
            <a:gdLst/>
            <a:ahLst/>
            <a:cxnLst/>
            <a:rect r="r" b="b" t="t" l="l"/>
            <a:pathLst>
              <a:path h="1030754" w="1062633">
                <a:moveTo>
                  <a:pt x="0" y="0"/>
                </a:moveTo>
                <a:lnTo>
                  <a:pt x="1062633" y="0"/>
                </a:lnTo>
                <a:lnTo>
                  <a:pt x="1062633" y="1030754"/>
                </a:lnTo>
                <a:lnTo>
                  <a:pt x="0" y="1030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0113" y="4519547"/>
            <a:ext cx="1009643" cy="1009643"/>
          </a:xfrm>
          <a:custGeom>
            <a:avLst/>
            <a:gdLst/>
            <a:ahLst/>
            <a:cxnLst/>
            <a:rect r="r" b="b" t="t" l="l"/>
            <a:pathLst>
              <a:path h="1009643" w="1009643">
                <a:moveTo>
                  <a:pt x="0" y="0"/>
                </a:moveTo>
                <a:lnTo>
                  <a:pt x="1009643" y="0"/>
                </a:lnTo>
                <a:lnTo>
                  <a:pt x="1009643" y="1009643"/>
                </a:lnTo>
                <a:lnTo>
                  <a:pt x="0" y="10096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04422" y="4532925"/>
            <a:ext cx="879684" cy="982887"/>
          </a:xfrm>
          <a:custGeom>
            <a:avLst/>
            <a:gdLst/>
            <a:ahLst/>
            <a:cxnLst/>
            <a:rect r="r" b="b" t="t" l="l"/>
            <a:pathLst>
              <a:path h="982887" w="879684">
                <a:moveTo>
                  <a:pt x="0" y="0"/>
                </a:moveTo>
                <a:lnTo>
                  <a:pt x="879684" y="0"/>
                </a:lnTo>
                <a:lnTo>
                  <a:pt x="879684" y="982887"/>
                </a:lnTo>
                <a:lnTo>
                  <a:pt x="0" y="9828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52525"/>
            <a:ext cx="6056426" cy="97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Nasıl Çalışır?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621" y="5880988"/>
            <a:ext cx="3203925" cy="10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Telefonu uygulamaya bağlayarak test uzmanının testi yapması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246" y="3720008"/>
            <a:ext cx="3203925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Telefon ile Test Yapılması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02745" y="3720008"/>
            <a:ext cx="3557247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ED957"/>
                </a:solidFill>
                <a:latin typeface="Aileron"/>
                <a:ea typeface="Aileron"/>
                <a:cs typeface="Aileron"/>
                <a:sym typeface="Aileron"/>
              </a:rPr>
              <a:t>Yapılan Testin AI ile Kontrolü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42850" y="5880988"/>
            <a:ext cx="3203925" cy="175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Yaratılan testin lokalde AI desteği ile sayfa karşılaştırması yaparak testin kontrollerinin sağlanması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8305" y="3720008"/>
            <a:ext cx="3557247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ED957"/>
                </a:solidFill>
                <a:latin typeface="Aileron"/>
                <a:ea typeface="Aileron"/>
                <a:cs typeface="Aileron"/>
                <a:sym typeface="Aileron"/>
              </a:rPr>
              <a:t>Yapılan Testin Düzenlenmesi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64605" y="3703531"/>
            <a:ext cx="2959317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Testin Finalize Exportu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4966" y="5880988"/>
            <a:ext cx="3203925" cy="10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Yaratılan testin, test adım, senaryo başlık ve event idlerinin düzenlenmesi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42301" y="5880988"/>
            <a:ext cx="3203925" cy="140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Belirlenen template içerisinde testin gitlab’a yüklenebilir şekilde export edilmesi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50469" y="2246377"/>
            <a:ext cx="13930006" cy="470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4"/>
              </a:lnSpc>
            </a:pPr>
            <a:r>
              <a:rPr lang="en-US" sz="12124" spc="-448" b="true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Uygulama  </a:t>
            </a:r>
            <a:r>
              <a:rPr lang="en-US" sz="12124" spc="-44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             </a:t>
            </a:r>
          </a:p>
          <a:p>
            <a:pPr algn="l">
              <a:lnSpc>
                <a:spcPts val="12124"/>
              </a:lnSpc>
            </a:pPr>
            <a:r>
              <a:rPr lang="en-US" sz="12124" spc="-44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        Demosu</a:t>
            </a:r>
          </a:p>
          <a:p>
            <a:pPr algn="l">
              <a:lnSpc>
                <a:spcPts val="12124"/>
              </a:lnSpc>
            </a:pPr>
            <a:r>
              <a:rPr lang="en-US" sz="12124" spc="-44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                </a:t>
            </a:r>
            <a:r>
              <a:rPr lang="en-US" sz="12124" spc="-448" b="true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    Gösterimi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19219"/>
            <a:ext cx="16230600" cy="7717093"/>
          </a:xfrm>
          <a:custGeom>
            <a:avLst/>
            <a:gdLst/>
            <a:ahLst/>
            <a:cxnLst/>
            <a:rect r="r" b="b" t="t" l="l"/>
            <a:pathLst>
              <a:path h="7717093" w="16230600">
                <a:moveTo>
                  <a:pt x="0" y="0"/>
                </a:moveTo>
                <a:lnTo>
                  <a:pt x="16230600" y="0"/>
                </a:lnTo>
                <a:lnTo>
                  <a:pt x="16230600" y="7717093"/>
                </a:lnTo>
                <a:lnTo>
                  <a:pt x="0" y="77170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19" t="-26716" r="-823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1715" y="4115578"/>
            <a:ext cx="11311825" cy="733823"/>
          </a:xfrm>
          <a:custGeom>
            <a:avLst/>
            <a:gdLst/>
            <a:ahLst/>
            <a:cxnLst/>
            <a:rect r="r" b="b" t="t" l="l"/>
            <a:pathLst>
              <a:path h="733823" w="11311825">
                <a:moveTo>
                  <a:pt x="0" y="0"/>
                </a:moveTo>
                <a:lnTo>
                  <a:pt x="11311825" y="0"/>
                </a:lnTo>
                <a:lnTo>
                  <a:pt x="11311825" y="733823"/>
                </a:lnTo>
                <a:lnTo>
                  <a:pt x="0" y="733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492" t="-8415" r="0" b="-2279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0042" y="883215"/>
            <a:ext cx="605642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Neden Appic?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731715" y="5755403"/>
            <a:ext cx="5789045" cy="795580"/>
          </a:xfrm>
          <a:custGeom>
            <a:avLst/>
            <a:gdLst/>
            <a:ahLst/>
            <a:cxnLst/>
            <a:rect r="r" b="b" t="t" l="l"/>
            <a:pathLst>
              <a:path h="795580" w="5789045">
                <a:moveTo>
                  <a:pt x="0" y="0"/>
                </a:moveTo>
                <a:lnTo>
                  <a:pt x="5789045" y="0"/>
                </a:lnTo>
                <a:lnTo>
                  <a:pt x="5789045" y="795579"/>
                </a:lnTo>
                <a:lnTo>
                  <a:pt x="0" y="795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6364" t="0" r="-95400" b="-2102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31715" y="7460775"/>
            <a:ext cx="2880933" cy="795580"/>
          </a:xfrm>
          <a:custGeom>
            <a:avLst/>
            <a:gdLst/>
            <a:ahLst/>
            <a:cxnLst/>
            <a:rect r="r" b="b" t="t" l="l"/>
            <a:pathLst>
              <a:path h="795580" w="2880933">
                <a:moveTo>
                  <a:pt x="0" y="0"/>
                </a:moveTo>
                <a:lnTo>
                  <a:pt x="2880933" y="0"/>
                </a:lnTo>
                <a:lnTo>
                  <a:pt x="2880933" y="795580"/>
                </a:lnTo>
                <a:lnTo>
                  <a:pt x="0" y="795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2977" t="0" r="-292644" b="-2102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10768" y="4149415"/>
            <a:ext cx="3448532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1 Dk 12 Saniye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7350" y="5820118"/>
            <a:ext cx="2089602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32 Saniye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3280" y="7525491"/>
            <a:ext cx="1786375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A1D1C"/>
                </a:solidFill>
                <a:latin typeface="Aileron Bold"/>
                <a:ea typeface="Aileron Bold"/>
                <a:cs typeface="Aileron Bold"/>
                <a:sym typeface="Aileron Bold"/>
              </a:rPr>
              <a:t>5 Saniye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6962" y="4149415"/>
            <a:ext cx="4096557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1A1D1C"/>
                </a:solidFill>
                <a:latin typeface="Aileron Bold"/>
                <a:ea typeface="Aileron Bold"/>
                <a:cs typeface="Aileron Bold"/>
                <a:sym typeface="Aileron Bold"/>
              </a:rPr>
              <a:t>Saf Manuel Appium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6962" y="5820118"/>
            <a:ext cx="4096557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1A1D1C"/>
                </a:solidFill>
                <a:latin typeface="Aileron Bold"/>
                <a:ea typeface="Aileron Bold"/>
                <a:cs typeface="Aileron Bold"/>
                <a:sym typeface="Aileron Bold"/>
              </a:rPr>
              <a:t>Ara Yapı (Streamlit)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6962" y="7525491"/>
            <a:ext cx="4096557" cy="58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true">
                <a:solidFill>
                  <a:srgbClr val="1A1D1C"/>
                </a:solidFill>
                <a:latin typeface="Aileron Bold"/>
                <a:ea typeface="Aileron Bold"/>
                <a:cs typeface="Aileron Bold"/>
                <a:sym typeface="Aileron Bold"/>
              </a:rPr>
              <a:t>Appic Uygulaması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9550" y="2379011"/>
            <a:ext cx="15610963" cy="44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02026"/>
                </a:solidFill>
                <a:latin typeface="Aileron Bold"/>
                <a:ea typeface="Aileron Bold"/>
                <a:cs typeface="Aileron Bold"/>
                <a:sym typeface="Aileron Bold"/>
              </a:rPr>
              <a:t>Bir test maddesi yazmak için geçen süre , her bir platform için ayrı ayrı gösterilmiştir.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05161" y="5624167"/>
            <a:ext cx="1061403" cy="106140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7ED95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49064" y="5624167"/>
            <a:ext cx="1061403" cy="106140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7ED95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02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566564" y="6154868"/>
            <a:ext cx="30825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792967" y="5624167"/>
            <a:ext cx="1061403" cy="106140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7ED95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03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7710467" y="6173918"/>
            <a:ext cx="30825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854369" y="6173918"/>
            <a:ext cx="30825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53049" y="1035738"/>
            <a:ext cx="16606251" cy="7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5400" spc="-1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Appic Evrimi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4810" y="7332234"/>
            <a:ext cx="4688671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"Appium Inspector ile elementlerin manuel kodlandığı geleneksel süreç; efor kaybına, teknik hatalara ve sadece yazılımcılara bağımlı bir yapıya neden oluyordu."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4810" y="6745175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1.Faz : Saf Manuel Akış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35430" y="4120336"/>
            <a:ext cx="4688671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"Elementlerin ara platformda manuel eşleştirildiği bu yapı; sık yaşanan XPath hataları ve ekstra zaman maliyeti yüzünden verimliliği düşürüyordu."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5621" y="3536136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2.Faz : Ara Platform (TestAnt)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3367" y="7332234"/>
            <a:ext cx="4688671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Test yaparken öğrenen AI, ekranları karşılaştırır, objeleri tanır ve manuel işlemleri anında otomatik test koduna dönüştürür.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73559" y="6748033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3.Faz : Appic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936870" y="5643217"/>
            <a:ext cx="1061403" cy="106140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7ED95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113773" y="4908517"/>
            <a:ext cx="4435811" cy="42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7ED957"/>
                </a:solidFill>
                <a:latin typeface="Aileron Bold"/>
                <a:ea typeface="Aileron Bold"/>
                <a:cs typeface="Aileron Bold"/>
                <a:sym typeface="Aileron Bold"/>
              </a:rPr>
              <a:t>4.Faz : TestAlly ile Test Zekası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DAHSjOsESsU</dc:identifier>
  <dcterms:modified xsi:type="dcterms:W3CDTF">2011-08-01T06:04:30Z</dcterms:modified>
  <cp:revision>1</cp:revision>
  <dc:title>Business Presentation</dc:title>
</cp:coreProperties>
</file>